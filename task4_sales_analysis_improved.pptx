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hyperlink" Target="https://storage.googleapis.com/duqyzfbpzofire/what-is-business-growth-definition.html" TargetMode="External"/><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hyperlink" Target="https://pixabay.com/illustrations/profits-revenue-business-income-1953616/" TargetMode="External"/><Relationship Id="rId2" Type="http://schemas.openxmlformats.org/officeDocument/2006/relationships/image" Target="../media/image5.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873665" y="274320"/>
            <a:ext cx="5396669" cy="461665"/>
          </a:xfrm>
          <a:prstGeom prst="rect">
            <a:avLst/>
          </a:prstGeom>
          <a:noFill/>
        </p:spPr>
        <p:txBody>
          <a:bodyPr wrap="none">
            <a:spAutoFit/>
          </a:bodyPr>
          <a:lstStyle/>
          <a:p>
            <a:pPr algn="ctr"/>
            <a:r>
              <a:rPr sz="2400" b="1" dirty="0">
                <a:latin typeface="Times New Roman"/>
              </a:rPr>
              <a:t>Sales Data Analysis &amp; Business Insights</a:t>
            </a:r>
          </a:p>
        </p:txBody>
      </p:sp>
      <p:sp>
        <p:nvSpPr>
          <p:cNvPr id="3" name="TextBox 2"/>
          <p:cNvSpPr txBox="1"/>
          <p:nvPr/>
        </p:nvSpPr>
        <p:spPr>
          <a:xfrm>
            <a:off x="457200" y="1005840"/>
            <a:ext cx="8229600" cy="548640"/>
          </a:xfrm>
          <a:prstGeom prst="rect">
            <a:avLst/>
          </a:prstGeom>
          <a:noFill/>
        </p:spPr>
        <p:txBody>
          <a:bodyPr wrap="none">
            <a:spAutoFit/>
          </a:bodyPr>
          <a:lstStyle/>
          <a:p>
            <a:pPr algn="ctr"/>
            <a:r>
              <a:rPr sz="2200">
                <a:latin typeface="Times New Roman"/>
              </a:rPr>
              <a:t>Data Analytics Internship Project</a:t>
            </a:r>
          </a:p>
        </p:txBody>
      </p:sp>
      <p:sp>
        <p:nvSpPr>
          <p:cNvPr id="4" name="TextBox 3"/>
          <p:cNvSpPr txBox="1"/>
          <p:nvPr/>
        </p:nvSpPr>
        <p:spPr>
          <a:xfrm>
            <a:off x="457200" y="1994966"/>
            <a:ext cx="7963319" cy="2031325"/>
          </a:xfrm>
          <a:prstGeom prst="rect">
            <a:avLst/>
          </a:prstGeom>
          <a:noFill/>
        </p:spPr>
        <p:txBody>
          <a:bodyPr wrap="square">
            <a:spAutoFit/>
          </a:bodyPr>
          <a:lstStyle/>
          <a:p>
            <a:r>
              <a:rPr sz="1800" dirty="0">
                <a:latin typeface="Times New Roman"/>
              </a:rPr>
              <a:t>This presentation explains the process of analyzing sales data to discover important business insights. The project was completed as part of the Apex Planet Data Analytics Internship. It involves collecting and cleaning the dataset, performing exploratory data analysis, building an interactive dashboard, and finally presenting business insights using data storytelling techniques. The main goal of the project is to understand how sales performance varies across product categories, regions, and time periods so that organizations can make better data-driven decisions.</a:t>
            </a:r>
          </a:p>
        </p:txBody>
      </p:sp>
      <p:sp>
        <p:nvSpPr>
          <p:cNvPr id="5" name="TextBox 4">
            <a:extLst>
              <a:ext uri="{FF2B5EF4-FFF2-40B4-BE49-F238E27FC236}">
                <a16:creationId xmlns:a16="http://schemas.microsoft.com/office/drawing/2014/main" id="{67976C5C-0E60-5EBB-E113-8E7581CFA8FC}"/>
              </a:ext>
            </a:extLst>
          </p:cNvPr>
          <p:cNvSpPr txBox="1"/>
          <p:nvPr/>
        </p:nvSpPr>
        <p:spPr>
          <a:xfrm>
            <a:off x="5565058" y="4896464"/>
            <a:ext cx="3323303" cy="646331"/>
          </a:xfrm>
          <a:prstGeom prst="rect">
            <a:avLst/>
          </a:prstGeom>
          <a:noFill/>
        </p:spPr>
        <p:txBody>
          <a:bodyPr wrap="square" rtlCol="0">
            <a:spAutoFit/>
          </a:bodyPr>
          <a:lstStyle/>
          <a:p>
            <a:r>
              <a:rPr lang="en-IN" dirty="0"/>
              <a:t>ORGANISSTION : APEX PLANET</a:t>
            </a:r>
          </a:p>
          <a:p>
            <a:r>
              <a:rPr lang="en-IN" dirty="0"/>
              <a:t>BY :YOGESHWAR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334706" y="274320"/>
            <a:ext cx="2474587" cy="461665"/>
          </a:xfrm>
          <a:prstGeom prst="rect">
            <a:avLst/>
          </a:prstGeom>
          <a:noFill/>
        </p:spPr>
        <p:txBody>
          <a:bodyPr wrap="none">
            <a:spAutoFit/>
          </a:bodyPr>
          <a:lstStyle/>
          <a:p>
            <a:pPr algn="ctr"/>
            <a:r>
              <a:rPr sz="2400" b="1" dirty="0">
                <a:latin typeface="Times New Roman"/>
              </a:rPr>
              <a:t>Project Objective</a:t>
            </a:r>
          </a:p>
        </p:txBody>
      </p:sp>
      <p:sp>
        <p:nvSpPr>
          <p:cNvPr id="3" name="TextBox 2"/>
          <p:cNvSpPr txBox="1"/>
          <p:nvPr/>
        </p:nvSpPr>
        <p:spPr>
          <a:xfrm>
            <a:off x="457200" y="1005840"/>
            <a:ext cx="8229600" cy="548640"/>
          </a:xfrm>
          <a:prstGeom prst="rect">
            <a:avLst/>
          </a:prstGeom>
          <a:noFill/>
        </p:spPr>
        <p:txBody>
          <a:bodyPr wrap="none">
            <a:spAutoFit/>
          </a:bodyPr>
          <a:lstStyle/>
          <a:p>
            <a:pPr algn="ctr"/>
            <a:r>
              <a:rPr sz="2200">
                <a:latin typeface="Times New Roman"/>
              </a:rPr>
              <a:t>Understanding Business Performance Through Data</a:t>
            </a:r>
          </a:p>
        </p:txBody>
      </p:sp>
      <p:sp>
        <p:nvSpPr>
          <p:cNvPr id="4" name="TextBox 3"/>
          <p:cNvSpPr txBox="1"/>
          <p:nvPr/>
        </p:nvSpPr>
        <p:spPr>
          <a:xfrm>
            <a:off x="457200" y="1645920"/>
            <a:ext cx="4685071" cy="3693319"/>
          </a:xfrm>
          <a:prstGeom prst="rect">
            <a:avLst/>
          </a:prstGeom>
          <a:noFill/>
        </p:spPr>
        <p:txBody>
          <a:bodyPr wrap="square">
            <a:spAutoFit/>
          </a:bodyPr>
          <a:lstStyle/>
          <a:p>
            <a:r>
              <a:rPr sz="1800" dirty="0">
                <a:latin typeface="Times New Roman"/>
              </a:rPr>
              <a:t>The primary objective of this project is to analyze sales data and identify meaningful trends that can help businesses improve their decision-making process. The analysis focuses on understanding how sales, profit, and product categories affect overall business performance. The project also aims to demonstrate how data analytics tools such as Power BI can transform raw datasets into clear visual insights. By studying patterns in the data, organizations can identify opportunities to increase revenue, improve profitability, and enhance operational efficiency.</a:t>
            </a:r>
          </a:p>
        </p:txBody>
      </p:sp>
      <p:pic>
        <p:nvPicPr>
          <p:cNvPr id="5" name="Picture 4" descr="sales_trend.png"/>
          <p:cNvPicPr>
            <a:picLocks noChangeAspect="1"/>
          </p:cNvPicPr>
          <p:nvPr/>
        </p:nvPicPr>
        <p:blipFill>
          <a:blip r:embed="rId2"/>
          <a:stretch>
            <a:fillRect/>
          </a:stretch>
        </p:blipFill>
        <p:spPr>
          <a:xfrm>
            <a:off x="4876800" y="1828800"/>
            <a:ext cx="4267200" cy="32004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313482" y="274320"/>
            <a:ext cx="2517036" cy="461665"/>
          </a:xfrm>
          <a:prstGeom prst="rect">
            <a:avLst/>
          </a:prstGeom>
          <a:noFill/>
        </p:spPr>
        <p:txBody>
          <a:bodyPr wrap="none">
            <a:spAutoFit/>
          </a:bodyPr>
          <a:lstStyle/>
          <a:p>
            <a:pPr algn="ctr"/>
            <a:r>
              <a:rPr sz="2400" b="1" dirty="0">
                <a:latin typeface="Times New Roman"/>
              </a:rPr>
              <a:t>Dataset Overview</a:t>
            </a:r>
          </a:p>
        </p:txBody>
      </p:sp>
      <p:sp>
        <p:nvSpPr>
          <p:cNvPr id="3" name="TextBox 2"/>
          <p:cNvSpPr txBox="1"/>
          <p:nvPr/>
        </p:nvSpPr>
        <p:spPr>
          <a:xfrm>
            <a:off x="457200" y="1005840"/>
            <a:ext cx="8229600" cy="548640"/>
          </a:xfrm>
          <a:prstGeom prst="rect">
            <a:avLst/>
          </a:prstGeom>
          <a:noFill/>
        </p:spPr>
        <p:txBody>
          <a:bodyPr wrap="none">
            <a:spAutoFit/>
          </a:bodyPr>
          <a:lstStyle/>
          <a:p>
            <a:pPr algn="ctr"/>
            <a:r>
              <a:rPr sz="2200">
                <a:latin typeface="Times New Roman"/>
              </a:rPr>
              <a:t>Understanding the Structure of the Dataset</a:t>
            </a:r>
          </a:p>
        </p:txBody>
      </p:sp>
      <p:sp>
        <p:nvSpPr>
          <p:cNvPr id="4" name="TextBox 3"/>
          <p:cNvSpPr txBox="1"/>
          <p:nvPr/>
        </p:nvSpPr>
        <p:spPr>
          <a:xfrm>
            <a:off x="840658" y="1997839"/>
            <a:ext cx="5923936" cy="2862322"/>
          </a:xfrm>
          <a:prstGeom prst="rect">
            <a:avLst/>
          </a:prstGeom>
          <a:noFill/>
        </p:spPr>
        <p:txBody>
          <a:bodyPr wrap="square">
            <a:spAutoFit/>
          </a:bodyPr>
          <a:lstStyle/>
          <a:p>
            <a:r>
              <a:rPr sz="1800" dirty="0">
                <a:latin typeface="Times New Roman"/>
              </a:rPr>
              <a:t>The dataset used in this project contains detailed records of sales transactions. It includes important fields such as order date, product name, category, region, sales value, profit, and quantity of items sold. These variables help in understanding customer purchasing patterns and business performance. By analyzing these attributes, analysts can determine which products generate the highest revenue, which regions contribute the most profit, and how sales change over time. This information is essential for strategic planning and performance evaluation.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966945" y="274320"/>
            <a:ext cx="3210110" cy="461665"/>
          </a:xfrm>
          <a:prstGeom prst="rect">
            <a:avLst/>
          </a:prstGeom>
          <a:noFill/>
        </p:spPr>
        <p:txBody>
          <a:bodyPr wrap="none">
            <a:spAutoFit/>
          </a:bodyPr>
          <a:lstStyle/>
          <a:p>
            <a:pPr algn="ctr"/>
            <a:r>
              <a:rPr sz="2400" b="1" dirty="0">
                <a:latin typeface="Times New Roman"/>
              </a:rPr>
              <a:t>Data Cleaning (Task 1)</a:t>
            </a:r>
          </a:p>
        </p:txBody>
      </p:sp>
      <p:sp>
        <p:nvSpPr>
          <p:cNvPr id="3" name="TextBox 2"/>
          <p:cNvSpPr txBox="1"/>
          <p:nvPr/>
        </p:nvSpPr>
        <p:spPr>
          <a:xfrm>
            <a:off x="457200" y="1005840"/>
            <a:ext cx="8229600" cy="548640"/>
          </a:xfrm>
          <a:prstGeom prst="rect">
            <a:avLst/>
          </a:prstGeom>
          <a:noFill/>
        </p:spPr>
        <p:txBody>
          <a:bodyPr wrap="none">
            <a:spAutoFit/>
          </a:bodyPr>
          <a:lstStyle/>
          <a:p>
            <a:pPr algn="ctr"/>
            <a:r>
              <a:rPr sz="2200">
                <a:latin typeface="Times New Roman"/>
              </a:rPr>
              <a:t>Preparing Data for Accurate Analysis</a:t>
            </a:r>
          </a:p>
        </p:txBody>
      </p:sp>
      <p:sp>
        <p:nvSpPr>
          <p:cNvPr id="4" name="TextBox 3"/>
          <p:cNvSpPr txBox="1"/>
          <p:nvPr/>
        </p:nvSpPr>
        <p:spPr>
          <a:xfrm>
            <a:off x="1528916" y="1931055"/>
            <a:ext cx="5894439" cy="2585323"/>
          </a:xfrm>
          <a:prstGeom prst="rect">
            <a:avLst/>
          </a:prstGeom>
          <a:noFill/>
        </p:spPr>
        <p:txBody>
          <a:bodyPr wrap="square">
            <a:spAutoFit/>
          </a:bodyPr>
          <a:lstStyle/>
          <a:p>
            <a:r>
              <a:rPr sz="1800" dirty="0">
                <a:latin typeface="Times New Roman"/>
              </a:rPr>
              <a:t>Before starting the analysis, the dataset was cleaned to ensure accuracy and reliability. Data cleaning involved identifying missing values, removing duplicate records, and correcting inconsistent formats in the dataset. Date columns were standardized, and numerical columns such as sales, profit, and quantity were verified for correctness. This step is important because incorrect or incomplete data can lead to misleading conclusions. After cleaning, the dataset became ready for further analysis and visualization.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167527" y="274320"/>
            <a:ext cx="4808945" cy="461665"/>
          </a:xfrm>
          <a:prstGeom prst="rect">
            <a:avLst/>
          </a:prstGeom>
          <a:noFill/>
        </p:spPr>
        <p:txBody>
          <a:bodyPr wrap="none">
            <a:spAutoFit/>
          </a:bodyPr>
          <a:lstStyle/>
          <a:p>
            <a:pPr algn="ctr"/>
            <a:r>
              <a:rPr sz="2400" b="1" dirty="0">
                <a:latin typeface="Times New Roman"/>
              </a:rPr>
              <a:t>Exploratory Data Analysis (Task 2)</a:t>
            </a:r>
          </a:p>
        </p:txBody>
      </p:sp>
      <p:sp>
        <p:nvSpPr>
          <p:cNvPr id="3" name="TextBox 2"/>
          <p:cNvSpPr txBox="1"/>
          <p:nvPr/>
        </p:nvSpPr>
        <p:spPr>
          <a:xfrm>
            <a:off x="457200" y="1005840"/>
            <a:ext cx="8229600" cy="548640"/>
          </a:xfrm>
          <a:prstGeom prst="rect">
            <a:avLst/>
          </a:prstGeom>
          <a:noFill/>
        </p:spPr>
        <p:txBody>
          <a:bodyPr wrap="none">
            <a:spAutoFit/>
          </a:bodyPr>
          <a:lstStyle/>
          <a:p>
            <a:pPr algn="ctr"/>
            <a:r>
              <a:rPr sz="2200">
                <a:latin typeface="Times New Roman"/>
              </a:rPr>
              <a:t>Discovering Patterns and Relationships</a:t>
            </a:r>
          </a:p>
        </p:txBody>
      </p:sp>
      <p:sp>
        <p:nvSpPr>
          <p:cNvPr id="4" name="TextBox 3"/>
          <p:cNvSpPr txBox="1"/>
          <p:nvPr/>
        </p:nvSpPr>
        <p:spPr>
          <a:xfrm>
            <a:off x="457200" y="1645920"/>
            <a:ext cx="4429432" cy="3139321"/>
          </a:xfrm>
          <a:prstGeom prst="rect">
            <a:avLst/>
          </a:prstGeom>
          <a:noFill/>
        </p:spPr>
        <p:txBody>
          <a:bodyPr wrap="square">
            <a:spAutoFit/>
          </a:bodyPr>
          <a:lstStyle/>
          <a:p>
            <a:r>
              <a:rPr sz="1800" dirty="0">
                <a:latin typeface="Times New Roman"/>
              </a:rPr>
              <a:t>Exploratory Data Analysis was conducted to better understand the distribution of the data. Various visualization techniques such as histograms, bar charts, and scatter plots were used to examine relationships between variables. This process helped identify trends such as which product categories generate the highest sales and how profit varies across regions. EDA also helped detect potential outliers and patterns that would later be explored in the interactive dashboard.</a:t>
            </a:r>
          </a:p>
        </p:txBody>
      </p:sp>
      <p:pic>
        <p:nvPicPr>
          <p:cNvPr id="5" name="Picture 4" descr="category_sales.png"/>
          <p:cNvPicPr>
            <a:picLocks noChangeAspect="1"/>
          </p:cNvPicPr>
          <p:nvPr/>
        </p:nvPicPr>
        <p:blipFill>
          <a:blip r:embed="rId2"/>
          <a:stretch>
            <a:fillRect/>
          </a:stretch>
        </p:blipFill>
        <p:spPr>
          <a:xfrm>
            <a:off x="4876800" y="1922206"/>
            <a:ext cx="4267200" cy="32004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428336" y="274320"/>
            <a:ext cx="4287328" cy="461665"/>
          </a:xfrm>
          <a:prstGeom prst="rect">
            <a:avLst/>
          </a:prstGeom>
          <a:noFill/>
        </p:spPr>
        <p:txBody>
          <a:bodyPr wrap="none">
            <a:spAutoFit/>
          </a:bodyPr>
          <a:lstStyle/>
          <a:p>
            <a:pPr algn="ctr"/>
            <a:r>
              <a:rPr sz="2400" b="1" dirty="0">
                <a:latin typeface="Times New Roman"/>
              </a:rPr>
              <a:t>Interactive Dashboard (Task 3)</a:t>
            </a:r>
          </a:p>
        </p:txBody>
      </p:sp>
      <p:sp>
        <p:nvSpPr>
          <p:cNvPr id="3" name="TextBox 2"/>
          <p:cNvSpPr txBox="1"/>
          <p:nvPr/>
        </p:nvSpPr>
        <p:spPr>
          <a:xfrm>
            <a:off x="457200" y="1005840"/>
            <a:ext cx="8229600" cy="548640"/>
          </a:xfrm>
          <a:prstGeom prst="rect">
            <a:avLst/>
          </a:prstGeom>
          <a:noFill/>
        </p:spPr>
        <p:txBody>
          <a:bodyPr wrap="none">
            <a:spAutoFit/>
          </a:bodyPr>
          <a:lstStyle/>
          <a:p>
            <a:pPr algn="ctr"/>
            <a:r>
              <a:rPr sz="2200">
                <a:latin typeface="Times New Roman"/>
              </a:rPr>
              <a:t>Visualizing Data with Power BI</a:t>
            </a:r>
          </a:p>
        </p:txBody>
      </p:sp>
      <p:sp>
        <p:nvSpPr>
          <p:cNvPr id="4" name="TextBox 3"/>
          <p:cNvSpPr txBox="1"/>
          <p:nvPr/>
        </p:nvSpPr>
        <p:spPr>
          <a:xfrm>
            <a:off x="457200" y="1645920"/>
            <a:ext cx="4267200" cy="3693319"/>
          </a:xfrm>
          <a:prstGeom prst="rect">
            <a:avLst/>
          </a:prstGeom>
          <a:noFill/>
        </p:spPr>
        <p:txBody>
          <a:bodyPr wrap="square">
            <a:spAutoFit/>
          </a:bodyPr>
          <a:lstStyle/>
          <a:p>
            <a:r>
              <a:rPr sz="1800" dirty="0">
                <a:latin typeface="Times New Roman"/>
              </a:rPr>
              <a:t>A dynamic and interactive dashboard was developed using Power BI to visualize key metrics from the dataset. The dashboard includes KPI cards that display total sales, total profit, and total quantity sold. Additional charts show sales trends over time, category-wise sales distribution, and regional profit comparisons. Interactive filters allow users to explore the data in more detail and focus on specific regions or product categories. This makes the dashboard a powerful tool for business decision-making.</a:t>
            </a:r>
          </a:p>
        </p:txBody>
      </p:sp>
      <p:pic>
        <p:nvPicPr>
          <p:cNvPr id="5" name="Picture 4" descr="region_profit.png"/>
          <p:cNvPicPr>
            <a:picLocks noChangeAspect="1"/>
          </p:cNvPicPr>
          <p:nvPr/>
        </p:nvPicPr>
        <p:blipFill>
          <a:blip r:embed="rId2"/>
          <a:stretch>
            <a:fillRect/>
          </a:stretch>
        </p:blipFill>
        <p:spPr>
          <a:xfrm>
            <a:off x="4724400" y="1828800"/>
            <a:ext cx="4267200" cy="32004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27594" y="274320"/>
            <a:ext cx="4088812" cy="461665"/>
          </a:xfrm>
          <a:prstGeom prst="rect">
            <a:avLst/>
          </a:prstGeom>
          <a:noFill/>
        </p:spPr>
        <p:txBody>
          <a:bodyPr wrap="none">
            <a:spAutoFit/>
          </a:bodyPr>
          <a:lstStyle/>
          <a:p>
            <a:pPr algn="ctr"/>
            <a:r>
              <a:rPr sz="2400" b="1" dirty="0">
                <a:latin typeface="Times New Roman"/>
              </a:rPr>
              <a:t>Key Insights from Dashboard</a:t>
            </a:r>
          </a:p>
        </p:txBody>
      </p:sp>
      <p:sp>
        <p:nvSpPr>
          <p:cNvPr id="3" name="TextBox 2"/>
          <p:cNvSpPr txBox="1"/>
          <p:nvPr/>
        </p:nvSpPr>
        <p:spPr>
          <a:xfrm>
            <a:off x="457200" y="1005840"/>
            <a:ext cx="8229600" cy="548640"/>
          </a:xfrm>
          <a:prstGeom prst="rect">
            <a:avLst/>
          </a:prstGeom>
          <a:noFill/>
        </p:spPr>
        <p:txBody>
          <a:bodyPr wrap="none">
            <a:spAutoFit/>
          </a:bodyPr>
          <a:lstStyle/>
          <a:p>
            <a:pPr algn="ctr"/>
            <a:r>
              <a:rPr sz="2200">
                <a:latin typeface="Times New Roman"/>
              </a:rPr>
              <a:t>Important Findings from the Analysis</a:t>
            </a:r>
          </a:p>
        </p:txBody>
      </p:sp>
      <p:sp>
        <p:nvSpPr>
          <p:cNvPr id="4" name="TextBox 3"/>
          <p:cNvSpPr txBox="1"/>
          <p:nvPr/>
        </p:nvSpPr>
        <p:spPr>
          <a:xfrm>
            <a:off x="457200" y="1737360"/>
            <a:ext cx="8111613" cy="4247317"/>
          </a:xfrm>
          <a:prstGeom prst="rect">
            <a:avLst/>
          </a:prstGeom>
          <a:noFill/>
        </p:spPr>
        <p:txBody>
          <a:bodyPr wrap="square">
            <a:spAutoFit/>
          </a:bodyPr>
          <a:lstStyle/>
          <a:p>
            <a:r>
              <a:rPr lang="en-US" dirty="0"/>
              <a:t>The analysis of the dashboard revealed several meaningful insights about sales performance and business trends. It was observed that the Technology category contributes the largest share of total sales, outperforming other categories such as Furniture and Office Supplies. This indicates that technology products have strong customer demand and play a major role in generating revenue for the business.</a:t>
            </a:r>
          </a:p>
          <a:p>
            <a:r>
              <a:rPr lang="en-US" dirty="0"/>
              <a:t>The regional analysis shows that some regions generate significantly higher profit compared to others, which suggests stronger market demand, better customer engagement, or more effective sales strategies in those areas. Understanding these regional differences can help businesses focus their marketing efforts and resource allocation in the most profitable markets.</a:t>
            </a:r>
          </a:p>
          <a:p>
            <a:r>
              <a:rPr lang="en-US" dirty="0"/>
              <a:t>Another important observation is that certain products achieve high sales volumes but generate relatively lower profit margins. This could be due to factors such as high production costs, discount strategies, or competitive pricing. Businesses should carefully evaluate these products and consider adjusting pricing strategies, reducing costs, or improving supply chain.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116409" y="274320"/>
            <a:ext cx="2911182" cy="461665"/>
          </a:xfrm>
          <a:prstGeom prst="rect">
            <a:avLst/>
          </a:prstGeom>
          <a:noFill/>
        </p:spPr>
        <p:txBody>
          <a:bodyPr wrap="none">
            <a:spAutoFit/>
          </a:bodyPr>
          <a:lstStyle/>
          <a:p>
            <a:pPr algn="ctr"/>
            <a:r>
              <a:rPr sz="2400" b="1" dirty="0">
                <a:latin typeface="Times New Roman"/>
              </a:rPr>
              <a:t>Statistical Validation</a:t>
            </a:r>
          </a:p>
        </p:txBody>
      </p:sp>
      <p:sp>
        <p:nvSpPr>
          <p:cNvPr id="3" name="TextBox 2"/>
          <p:cNvSpPr txBox="1"/>
          <p:nvPr/>
        </p:nvSpPr>
        <p:spPr>
          <a:xfrm>
            <a:off x="457200" y="1005840"/>
            <a:ext cx="8229600" cy="548640"/>
          </a:xfrm>
          <a:prstGeom prst="rect">
            <a:avLst/>
          </a:prstGeom>
          <a:noFill/>
        </p:spPr>
        <p:txBody>
          <a:bodyPr wrap="none">
            <a:spAutoFit/>
          </a:bodyPr>
          <a:lstStyle/>
          <a:p>
            <a:pPr algn="ctr"/>
            <a:r>
              <a:rPr sz="2200">
                <a:latin typeface="Times New Roman"/>
              </a:rPr>
              <a:t>Testing Business Hypotheses</a:t>
            </a:r>
          </a:p>
        </p:txBody>
      </p:sp>
      <p:sp>
        <p:nvSpPr>
          <p:cNvPr id="4" name="TextBox 3"/>
          <p:cNvSpPr txBox="1"/>
          <p:nvPr/>
        </p:nvSpPr>
        <p:spPr>
          <a:xfrm>
            <a:off x="526025" y="1568245"/>
            <a:ext cx="8323007" cy="3970318"/>
          </a:xfrm>
          <a:prstGeom prst="rect">
            <a:avLst/>
          </a:prstGeom>
          <a:noFill/>
        </p:spPr>
        <p:txBody>
          <a:bodyPr wrap="square">
            <a:spAutoFit/>
          </a:bodyPr>
          <a:lstStyle/>
          <a:p>
            <a:r>
              <a:rPr lang="en-US" dirty="0"/>
              <a:t>To support the insights obtained from the dashboard, a basic statistical hypothesis test was performed. The null hypothesis assumed that there is no significant difference in sales among product categories. The alternative hypothesis suggested that product categories do influence sales performance. The analysis indicates that differences between categories are meaningful, supporting the idea that businesses should focus on category-based strategies to improve overall revenue.</a:t>
            </a:r>
          </a:p>
          <a:p>
            <a:r>
              <a:rPr lang="en-US" dirty="0"/>
              <a:t>This statistical validation helps ensure that the insights obtained from the data are not based on random patterns but on measurable differences within the dataset. By applying hypothesis testing, analysts can provide stronger evidence for business decisions. The results highlight that certain product categories consistently outperform others in terms of sales contribution. This means businesses can prioritize these high-performing categories when planning marketing campaigns and product promotions. Additionally, focusing on category-level strategies can help organizations allocate resources more effectively and improve long-term revenue growth</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61861" y="274320"/>
            <a:ext cx="3820277" cy="461665"/>
          </a:xfrm>
          <a:prstGeom prst="rect">
            <a:avLst/>
          </a:prstGeom>
          <a:noFill/>
        </p:spPr>
        <p:txBody>
          <a:bodyPr wrap="none">
            <a:spAutoFit/>
          </a:bodyPr>
          <a:lstStyle/>
          <a:p>
            <a:pPr algn="ctr"/>
            <a:r>
              <a:rPr sz="2400" b="1" dirty="0">
                <a:latin typeface="Times New Roman"/>
              </a:rPr>
              <a:t>Business Recommendations</a:t>
            </a:r>
          </a:p>
        </p:txBody>
      </p:sp>
      <p:sp>
        <p:nvSpPr>
          <p:cNvPr id="3" name="TextBox 2"/>
          <p:cNvSpPr txBox="1"/>
          <p:nvPr/>
        </p:nvSpPr>
        <p:spPr>
          <a:xfrm>
            <a:off x="457200" y="1005840"/>
            <a:ext cx="8229600" cy="548640"/>
          </a:xfrm>
          <a:prstGeom prst="rect">
            <a:avLst/>
          </a:prstGeom>
          <a:noFill/>
        </p:spPr>
        <p:txBody>
          <a:bodyPr wrap="none">
            <a:spAutoFit/>
          </a:bodyPr>
          <a:lstStyle/>
          <a:p>
            <a:pPr algn="ctr"/>
            <a:r>
              <a:rPr sz="2200">
                <a:latin typeface="Times New Roman"/>
              </a:rPr>
              <a:t>Strategic Actions for Improvement</a:t>
            </a:r>
          </a:p>
        </p:txBody>
      </p:sp>
      <p:sp>
        <p:nvSpPr>
          <p:cNvPr id="4" name="TextBox 3"/>
          <p:cNvSpPr txBox="1"/>
          <p:nvPr/>
        </p:nvSpPr>
        <p:spPr>
          <a:xfrm>
            <a:off x="457200" y="2048696"/>
            <a:ext cx="4114800" cy="3416320"/>
          </a:xfrm>
          <a:prstGeom prst="rect">
            <a:avLst/>
          </a:prstGeom>
          <a:noFill/>
        </p:spPr>
        <p:txBody>
          <a:bodyPr wrap="square">
            <a:spAutoFit/>
          </a:bodyPr>
          <a:lstStyle/>
          <a:p>
            <a:r>
              <a:rPr sz="1800" dirty="0">
                <a:latin typeface="Times New Roman"/>
              </a:rPr>
              <a:t>Based on the findings from the analysis, several business recommendations can be proposed. Companies should focus marketing and promotional activities on high-performing product categories such as technology products. Products with high sales but low profit margins should be reviewed to improve pricing or reduce costs. Businesses should also explore opportunities to expand operations in regions that demonstrate strong sales and profitability.</a:t>
            </a:r>
          </a:p>
        </p:txBody>
      </p:sp>
      <p:pic>
        <p:nvPicPr>
          <p:cNvPr id="6" name="Picture 5">
            <a:extLst>
              <a:ext uri="{FF2B5EF4-FFF2-40B4-BE49-F238E27FC236}">
                <a16:creationId xmlns:a16="http://schemas.microsoft.com/office/drawing/2014/main" id="{9879E46D-EC65-38C6-3D81-6FD68941190B}"/>
              </a:ext>
            </a:extLst>
          </p:cNvPr>
          <p:cNvPicPr>
            <a:picLocks noChangeAspect="1"/>
          </p:cNvPicPr>
          <p:nvPr/>
        </p:nvPicPr>
        <p:blipFill>
          <a:blip r:embed="rId2">
            <a:extLst>
              <a:ext uri="{837473B0-CC2E-450A-ABE3-18F120FF3D39}">
                <a1611:picAttrSrcUrl xmlns:a1611="http://schemas.microsoft.com/office/drawing/2016/11/main" r:id="rId3"/>
              </a:ext>
            </a:extLst>
          </a:blip>
          <a:srcRect t="10036" b="22007"/>
          <a:stretch>
            <a:fillRect/>
          </a:stretch>
        </p:blipFill>
        <p:spPr>
          <a:xfrm>
            <a:off x="4888420" y="2326558"/>
            <a:ext cx="4181837" cy="220488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743888" y="274320"/>
            <a:ext cx="1656223" cy="461665"/>
          </a:xfrm>
          <a:prstGeom prst="rect">
            <a:avLst/>
          </a:prstGeom>
          <a:noFill/>
        </p:spPr>
        <p:txBody>
          <a:bodyPr wrap="none">
            <a:spAutoFit/>
          </a:bodyPr>
          <a:lstStyle/>
          <a:p>
            <a:pPr algn="ctr"/>
            <a:r>
              <a:rPr sz="2400" b="1" dirty="0">
                <a:latin typeface="Times New Roman"/>
              </a:rPr>
              <a:t>Conclusion</a:t>
            </a:r>
          </a:p>
        </p:txBody>
      </p:sp>
      <p:sp>
        <p:nvSpPr>
          <p:cNvPr id="3" name="TextBox 2"/>
          <p:cNvSpPr txBox="1"/>
          <p:nvPr/>
        </p:nvSpPr>
        <p:spPr>
          <a:xfrm>
            <a:off x="457200" y="1005840"/>
            <a:ext cx="8229600" cy="548640"/>
          </a:xfrm>
          <a:prstGeom prst="rect">
            <a:avLst/>
          </a:prstGeom>
          <a:noFill/>
        </p:spPr>
        <p:txBody>
          <a:bodyPr wrap="none">
            <a:spAutoFit/>
          </a:bodyPr>
          <a:lstStyle/>
          <a:p>
            <a:pPr algn="ctr"/>
            <a:r>
              <a:rPr sz="2200">
                <a:latin typeface="Times New Roman"/>
              </a:rPr>
              <a:t>Importance of Data-Driven Decision Making</a:t>
            </a:r>
          </a:p>
        </p:txBody>
      </p:sp>
      <p:sp>
        <p:nvSpPr>
          <p:cNvPr id="4" name="TextBox 3"/>
          <p:cNvSpPr txBox="1"/>
          <p:nvPr/>
        </p:nvSpPr>
        <p:spPr>
          <a:xfrm>
            <a:off x="457199" y="2078539"/>
            <a:ext cx="4535619" cy="3416320"/>
          </a:xfrm>
          <a:prstGeom prst="rect">
            <a:avLst/>
          </a:prstGeom>
          <a:noFill/>
        </p:spPr>
        <p:txBody>
          <a:bodyPr wrap="square">
            <a:spAutoFit/>
          </a:bodyPr>
          <a:lstStyle/>
          <a:p>
            <a:r>
              <a:rPr sz="1800" dirty="0">
                <a:latin typeface="Times New Roman"/>
              </a:rPr>
              <a:t>This project demonstrates how data analytics can convert raw data into meaningful insights that support strategic business decisions. Through data cleaning, exploratory analysis, interactive dashboard creation, and statistical validation, the project provides a clear understanding of sales performance. Using tools like Power BI helps organizations visualize complex data and identify trends that may not be immediately obvious. Overall, the project highlights the importance of data-driven decision-making in modern businesses.</a:t>
            </a:r>
          </a:p>
        </p:txBody>
      </p:sp>
      <p:pic>
        <p:nvPicPr>
          <p:cNvPr id="6" name="Picture 5">
            <a:extLst>
              <a:ext uri="{FF2B5EF4-FFF2-40B4-BE49-F238E27FC236}">
                <a16:creationId xmlns:a16="http://schemas.microsoft.com/office/drawing/2014/main" id="{7A3A7683-B990-9F47-3612-E8E658AF0776}"/>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4992819" y="2585884"/>
            <a:ext cx="3915207" cy="244700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17</TotalTime>
  <Words>1077</Words>
  <Application>Microsoft Office PowerPoint</Application>
  <PresentationFormat>On-screen Show (4:3)</PresentationFormat>
  <Paragraphs>35</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yogeshwar pothuganti</cp:lastModifiedBy>
  <cp:revision>2</cp:revision>
  <dcterms:created xsi:type="dcterms:W3CDTF">2013-01-27T09:14:16Z</dcterms:created>
  <dcterms:modified xsi:type="dcterms:W3CDTF">2026-04-05T05:16:51Z</dcterms:modified>
  <cp:category/>
</cp:coreProperties>
</file>